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Bodoni" pitchFamily="2" charset="0"/>
      <p:regular r:id="rId13"/>
      <p:bold r:id="rId14"/>
      <p:italic r:id="rId15"/>
      <p:boldItalic r:id="rId16"/>
    </p:embeddedFont>
    <p:embeddedFont>
      <p:font typeface="Comfortaa" pitchFamily="2" charset="0"/>
      <p:regular r:id="rId17"/>
      <p:bold r:id="rId18"/>
    </p:embeddedFon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Tahoma" panose="020B0604030504040204" pitchFamily="3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3712E7-24B4-A440-BF2C-0D1D37429320}" v="3" dt="2026-04-18T20:20:14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39" d="100"/>
          <a:sy n="139" d="100"/>
        </p:scale>
        <p:origin x="176" y="5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Garcia" userId="5a2257d46fb23e1f" providerId="LiveId" clId="{B6D29EC4-73A8-57B6-9CD0-3F3D65BD0499}"/>
    <pc:docChg chg="custSel modSld">
      <pc:chgData name="Mark Garcia" userId="5a2257d46fb23e1f" providerId="LiveId" clId="{B6D29EC4-73A8-57B6-9CD0-3F3D65BD0499}" dt="2026-04-18T20:31:45.567" v="3" actId="478"/>
      <pc:docMkLst>
        <pc:docMk/>
      </pc:docMkLst>
      <pc:sldChg chg="addSp delSp modSp mod modNotes">
        <pc:chgData name="Mark Garcia" userId="5a2257d46fb23e1f" providerId="LiveId" clId="{B6D29EC4-73A8-57B6-9CD0-3F3D65BD0499}" dt="2026-04-18T20:31:45.567" v="3" actId="478"/>
        <pc:sldMkLst>
          <pc:docMk/>
          <pc:sldMk cId="0" sldId="257"/>
        </pc:sldMkLst>
        <pc:spChg chg="add del mod">
          <ac:chgData name="Mark Garcia" userId="5a2257d46fb23e1f" providerId="LiveId" clId="{B6D29EC4-73A8-57B6-9CD0-3F3D65BD0499}" dt="2026-04-18T20:31:45.567" v="3" actId="478"/>
          <ac:spMkLst>
            <pc:docMk/>
            <pc:sldMk cId="0" sldId="257"/>
            <ac:spMk id="2" creationId="{702A52D2-9DC2-BC49-9279-D81DD6D34FA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a2bb85f65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a2bb85f658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464b88bf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464b88bf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a2bb85f65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a2bb85f65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a2bb85f65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a2bb85f65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2bb85f65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a2bb85f65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464b88bf35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464b88bf35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464b88bf35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464b88bf35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a2bb85f658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a2bb85f658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464b88bf35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464b88bf35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elcome Slide">
  <p:cSld name="CUSTOM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 r="18738"/>
          <a:stretch/>
        </p:blipFill>
        <p:spPr>
          <a:xfrm>
            <a:off x="3384574" y="0"/>
            <a:ext cx="5759425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oogle Shape;18;p3"/>
          <p:cNvGrpSpPr/>
          <p:nvPr/>
        </p:nvGrpSpPr>
        <p:grpSpPr>
          <a:xfrm>
            <a:off x="0" y="-6"/>
            <a:ext cx="9144000" cy="5143506"/>
            <a:chOff x="0" y="-12"/>
            <a:chExt cx="18288001" cy="10287013"/>
          </a:xfrm>
        </p:grpSpPr>
        <p:sp>
          <p:nvSpPr>
            <p:cNvPr id="19" name="Google Shape;19;p3"/>
            <p:cNvSpPr/>
            <p:nvPr/>
          </p:nvSpPr>
          <p:spPr>
            <a:xfrm>
              <a:off x="5375911" y="-12"/>
              <a:ext cx="12912090" cy="10287000"/>
            </a:xfrm>
            <a:custGeom>
              <a:avLst/>
              <a:gdLst/>
              <a:ahLst/>
              <a:cxnLst/>
              <a:rect l="l" t="t" r="r" b="b"/>
              <a:pathLst>
                <a:path w="12912090" h="10287000" extrusionOk="0">
                  <a:moveTo>
                    <a:pt x="12912088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2912088" y="0"/>
                  </a:lnTo>
                  <a:lnTo>
                    <a:pt x="12912088" y="10286999"/>
                  </a:lnTo>
                  <a:close/>
                </a:path>
              </a:pathLst>
            </a:custGeom>
            <a:solidFill>
              <a:srgbClr val="003367">
                <a:alpha val="2471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0" y="0"/>
              <a:ext cx="10290175" cy="10287000"/>
            </a:xfrm>
            <a:custGeom>
              <a:avLst/>
              <a:gdLst/>
              <a:ahLst/>
              <a:cxnLst/>
              <a:rect l="l" t="t" r="r" b="b"/>
              <a:pathLst>
                <a:path w="10290175" h="10287000" extrusionOk="0">
                  <a:moveTo>
                    <a:pt x="7010445" y="0"/>
                  </a:moveTo>
                  <a:lnTo>
                    <a:pt x="10289576" y="10287000"/>
                  </a:lnTo>
                  <a:lnTo>
                    <a:pt x="0" y="10287000"/>
                  </a:lnTo>
                  <a:lnTo>
                    <a:pt x="0" y="0"/>
                  </a:lnTo>
                  <a:lnTo>
                    <a:pt x="7010445" y="0"/>
                  </a:lnTo>
                  <a:close/>
                </a:path>
              </a:pathLst>
            </a:custGeom>
            <a:solidFill>
              <a:srgbClr val="00336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377462" y="2809713"/>
            <a:ext cx="3252300" cy="439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None/>
              <a:defRPr sz="3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850" y="76200"/>
            <a:ext cx="2023413" cy="128148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/>
          <p:nvPr/>
        </p:nvSpPr>
        <p:spPr>
          <a:xfrm>
            <a:off x="0" y="0"/>
            <a:ext cx="9144000" cy="76200"/>
          </a:xfrm>
          <a:custGeom>
            <a:avLst/>
            <a:gdLst/>
            <a:ahLst/>
            <a:cxnLst/>
            <a:rect l="l" t="t" r="r" b="b"/>
            <a:pathLst>
              <a:path w="18288000" h="152400" extrusionOk="0">
                <a:moveTo>
                  <a:pt x="0" y="0"/>
                </a:moveTo>
                <a:lnTo>
                  <a:pt x="18287999" y="0"/>
                </a:lnTo>
                <a:lnTo>
                  <a:pt x="18287999" y="152119"/>
                </a:lnTo>
                <a:lnTo>
                  <a:pt x="0" y="152119"/>
                </a:lnTo>
                <a:lnTo>
                  <a:pt x="0" y="0"/>
                </a:lnTo>
                <a:close/>
              </a:path>
            </a:pathLst>
          </a:custGeom>
          <a:solidFill>
            <a:srgbClr val="52A68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435750" y="3773975"/>
            <a:ext cx="2637900" cy="18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68B494"/>
              </a:buClr>
              <a:buSzPts val="1200"/>
              <a:buNone/>
              <a:defRPr sz="1400">
                <a:solidFill>
                  <a:srgbClr val="68B49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223250" y="230813"/>
            <a:ext cx="5415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2800" b="1" i="0">
                <a:solidFill>
                  <a:srgbClr val="00336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457200" y="1183000"/>
            <a:ext cx="7324200" cy="3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2">
  <p:cSld name="Title 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2467610" y="0"/>
            <a:ext cx="6686550" cy="5143500"/>
            <a:chOff x="4915295" y="1"/>
            <a:chExt cx="13373100" cy="10287000"/>
          </a:xfrm>
        </p:grpSpPr>
        <p:pic>
          <p:nvPicPr>
            <p:cNvPr id="33" name="Google Shape;33;p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633609" y="1"/>
              <a:ext cx="11654390" cy="10286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" name="Google Shape;34;p5"/>
            <p:cNvSpPr/>
            <p:nvPr/>
          </p:nvSpPr>
          <p:spPr>
            <a:xfrm>
              <a:off x="4915295" y="1"/>
              <a:ext cx="13373100" cy="10287000"/>
            </a:xfrm>
            <a:custGeom>
              <a:avLst/>
              <a:gdLst/>
              <a:ahLst/>
              <a:cxnLst/>
              <a:rect l="l" t="t" r="r" b="b"/>
              <a:pathLst>
                <a:path w="13373100" h="10287000" extrusionOk="0">
                  <a:moveTo>
                    <a:pt x="13372704" y="10286998"/>
                  </a:moveTo>
                  <a:lnTo>
                    <a:pt x="0" y="10286998"/>
                  </a:lnTo>
                  <a:lnTo>
                    <a:pt x="0" y="0"/>
                  </a:lnTo>
                  <a:lnTo>
                    <a:pt x="13372704" y="0"/>
                  </a:lnTo>
                  <a:lnTo>
                    <a:pt x="13372704" y="10286998"/>
                  </a:lnTo>
                  <a:close/>
                </a:path>
              </a:pathLst>
            </a:custGeom>
            <a:solidFill>
              <a:srgbClr val="003367">
                <a:alpha val="2471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" name="Google Shape;35;p5"/>
          <p:cNvSpPr/>
          <p:nvPr/>
        </p:nvSpPr>
        <p:spPr>
          <a:xfrm>
            <a:off x="0" y="0"/>
            <a:ext cx="5145088" cy="5143500"/>
          </a:xfrm>
          <a:custGeom>
            <a:avLst/>
            <a:gdLst/>
            <a:ahLst/>
            <a:cxnLst/>
            <a:rect l="l" t="t" r="r" b="b"/>
            <a:pathLst>
              <a:path w="10290175" h="10287000" extrusionOk="0">
                <a:moveTo>
                  <a:pt x="7010445" y="0"/>
                </a:moveTo>
                <a:lnTo>
                  <a:pt x="10289576" y="10287000"/>
                </a:lnTo>
                <a:lnTo>
                  <a:pt x="0" y="10287000"/>
                </a:lnTo>
                <a:lnTo>
                  <a:pt x="0" y="0"/>
                </a:lnTo>
                <a:lnTo>
                  <a:pt x="7010445" y="0"/>
                </a:lnTo>
                <a:close/>
              </a:path>
            </a:pathLst>
          </a:custGeom>
          <a:solidFill>
            <a:srgbClr val="7BC7E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285500" y="1872688"/>
            <a:ext cx="33951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2800" b="1" i="0">
                <a:solidFill>
                  <a:srgbClr val="00336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4575" y="3860100"/>
            <a:ext cx="1457925" cy="92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ransition Slide">
  <p:cSld name="Title Slide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7622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>
            <a:spLocks noGrp="1"/>
          </p:cNvSpPr>
          <p:nvPr>
            <p:ph type="ctrTitle"/>
          </p:nvPr>
        </p:nvSpPr>
        <p:spPr>
          <a:xfrm>
            <a:off x="2946188" y="2047649"/>
            <a:ext cx="61245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"/>
              <a:buNone/>
              <a:defRPr sz="3200" b="1" i="0">
                <a:solidFill>
                  <a:srgbClr val="52A68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ubTitle" idx="1"/>
          </p:nvPr>
        </p:nvSpPr>
        <p:spPr>
          <a:xfrm>
            <a:off x="3108963" y="2556013"/>
            <a:ext cx="40653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176562" y="230813"/>
            <a:ext cx="5415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2800" b="1" i="0">
                <a:solidFill>
                  <a:srgbClr val="00336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Slide">
  <p:cSld name="CUSTOM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8"/>
          <p:cNvPicPr preferRelativeResize="0"/>
          <p:nvPr/>
        </p:nvPicPr>
        <p:blipFill rotWithShape="1">
          <a:blip r:embed="rId2">
            <a:alphaModFix/>
          </a:blip>
          <a:srcRect r="19289"/>
          <a:stretch/>
        </p:blipFill>
        <p:spPr>
          <a:xfrm>
            <a:off x="3508063" y="76200"/>
            <a:ext cx="5635939" cy="5067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" name="Google Shape;57;p8"/>
          <p:cNvGrpSpPr/>
          <p:nvPr/>
        </p:nvGrpSpPr>
        <p:grpSpPr>
          <a:xfrm>
            <a:off x="0" y="-6"/>
            <a:ext cx="9144000" cy="5143506"/>
            <a:chOff x="0" y="-12"/>
            <a:chExt cx="18288001" cy="10287013"/>
          </a:xfrm>
        </p:grpSpPr>
        <p:sp>
          <p:nvSpPr>
            <p:cNvPr id="58" name="Google Shape;58;p8"/>
            <p:cNvSpPr/>
            <p:nvPr/>
          </p:nvSpPr>
          <p:spPr>
            <a:xfrm>
              <a:off x="5375911" y="-12"/>
              <a:ext cx="12912090" cy="10287000"/>
            </a:xfrm>
            <a:custGeom>
              <a:avLst/>
              <a:gdLst/>
              <a:ahLst/>
              <a:cxnLst/>
              <a:rect l="l" t="t" r="r" b="b"/>
              <a:pathLst>
                <a:path w="12912090" h="10287000" extrusionOk="0">
                  <a:moveTo>
                    <a:pt x="12912088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2912088" y="0"/>
                  </a:lnTo>
                  <a:lnTo>
                    <a:pt x="12912088" y="10286999"/>
                  </a:lnTo>
                  <a:close/>
                </a:path>
              </a:pathLst>
            </a:custGeom>
            <a:solidFill>
              <a:srgbClr val="003367">
                <a:alpha val="2471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8"/>
            <p:cNvSpPr/>
            <p:nvPr/>
          </p:nvSpPr>
          <p:spPr>
            <a:xfrm>
              <a:off x="0" y="0"/>
              <a:ext cx="10290175" cy="10287000"/>
            </a:xfrm>
            <a:custGeom>
              <a:avLst/>
              <a:gdLst/>
              <a:ahLst/>
              <a:cxnLst/>
              <a:rect l="l" t="t" r="r" b="b"/>
              <a:pathLst>
                <a:path w="10290175" h="10287000" extrusionOk="0">
                  <a:moveTo>
                    <a:pt x="7010445" y="0"/>
                  </a:moveTo>
                  <a:lnTo>
                    <a:pt x="10289576" y="10287000"/>
                  </a:lnTo>
                  <a:lnTo>
                    <a:pt x="0" y="10287000"/>
                  </a:lnTo>
                  <a:lnTo>
                    <a:pt x="0" y="0"/>
                  </a:lnTo>
                  <a:lnTo>
                    <a:pt x="7010445" y="0"/>
                  </a:lnTo>
                  <a:close/>
                </a:path>
              </a:pathLst>
            </a:custGeom>
            <a:solidFill>
              <a:srgbClr val="00336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8"/>
          <p:cNvSpPr/>
          <p:nvPr/>
        </p:nvSpPr>
        <p:spPr>
          <a:xfrm>
            <a:off x="0" y="0"/>
            <a:ext cx="9144000" cy="76200"/>
          </a:xfrm>
          <a:custGeom>
            <a:avLst/>
            <a:gdLst/>
            <a:ahLst/>
            <a:cxnLst/>
            <a:rect l="l" t="t" r="r" b="b"/>
            <a:pathLst>
              <a:path w="18288000" h="152400" extrusionOk="0">
                <a:moveTo>
                  <a:pt x="0" y="0"/>
                </a:moveTo>
                <a:lnTo>
                  <a:pt x="18287999" y="0"/>
                </a:lnTo>
                <a:lnTo>
                  <a:pt x="18287999" y="152119"/>
                </a:lnTo>
                <a:lnTo>
                  <a:pt x="0" y="152119"/>
                </a:lnTo>
                <a:lnTo>
                  <a:pt x="0" y="0"/>
                </a:lnTo>
                <a:close/>
              </a:path>
            </a:pathLst>
          </a:custGeom>
          <a:solidFill>
            <a:srgbClr val="52A68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8"/>
          <p:cNvSpPr txBox="1"/>
          <p:nvPr/>
        </p:nvSpPr>
        <p:spPr>
          <a:xfrm>
            <a:off x="521625" y="2733400"/>
            <a:ext cx="2385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Thank you!</a:t>
            </a:r>
            <a:endParaRPr sz="3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2" name="Google Shape;6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881" y="121588"/>
            <a:ext cx="1801238" cy="114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31025" y="230813"/>
            <a:ext cx="5415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Font typeface="Lato"/>
              <a:buNone/>
              <a:defRPr sz="2800" i="0" u="none" strike="noStrike" cap="none">
                <a:solidFill>
                  <a:srgbClr val="003367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83000"/>
            <a:ext cx="7324200" cy="3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700"/>
              <a:buFont typeface="Lato"/>
              <a:buNone/>
              <a:defRPr sz="900" i="0" u="none" strike="noStrike" cap="none"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700"/>
              <a:buFont typeface="Lato"/>
              <a:buNone/>
              <a:defRPr sz="900" i="0" u="none" strike="noStrike" cap="none"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700"/>
              <a:buFont typeface="Lato"/>
              <a:buNone/>
              <a:defRPr sz="900" i="0" u="none" strike="noStrike" cap="none"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700"/>
              <a:buFont typeface="Lato"/>
              <a:buNone/>
              <a:defRPr sz="900" i="0" u="none" strike="noStrike" cap="none"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700"/>
              <a:buFont typeface="Lato"/>
              <a:buNone/>
              <a:defRPr sz="900" i="0" u="none" strike="noStrike" cap="none"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700"/>
              <a:buFont typeface="Lato"/>
              <a:buNone/>
              <a:defRPr sz="900" i="0" u="none" strike="noStrike" cap="none"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700"/>
              <a:buFont typeface="Lato"/>
              <a:buNone/>
              <a:defRPr sz="900" i="0" u="none" strike="noStrike" cap="none"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700"/>
              <a:buFont typeface="Lato"/>
              <a:buNone/>
              <a:defRPr sz="900" i="0" u="none" strike="noStrike" cap="none"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700"/>
              <a:buFont typeface="Lato"/>
              <a:buNone/>
              <a:defRPr sz="900" i="0" u="none" strike="noStrike" cap="none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Font typeface="Lato"/>
              <a:buNone/>
              <a:defRPr sz="90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Font typeface="Lato"/>
              <a:buNone/>
              <a:defRPr sz="90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53737" y="4263213"/>
            <a:ext cx="936439" cy="52023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1Ypn4kwaTAT4iWqte07MP-eWgP5T_rUv/view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bG5dtk3FFB1MNieYCEIIZheTp44jVDGr/view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SGrINK76iA19kAy-nMmyXqnGVYa3alX8/view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398925" y="2227900"/>
            <a:ext cx="4357800" cy="10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What Makes NYOS “Not Ordinary”?</a:t>
            </a:r>
            <a:endParaRPr sz="3500"/>
          </a:p>
        </p:txBody>
      </p:sp>
      <p:sp>
        <p:nvSpPr>
          <p:cNvPr id="72" name="Google Shape;72;p10"/>
          <p:cNvSpPr txBox="1">
            <a:spLocks noGrp="1"/>
          </p:cNvSpPr>
          <p:nvPr>
            <p:ph type="subTitle" idx="1"/>
          </p:nvPr>
        </p:nvSpPr>
        <p:spPr>
          <a:xfrm>
            <a:off x="435750" y="3773975"/>
            <a:ext cx="26379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December 5, 2023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>
            <a:spLocks noGrp="1"/>
          </p:cNvSpPr>
          <p:nvPr>
            <p:ph type="title"/>
          </p:nvPr>
        </p:nvSpPr>
        <p:spPr>
          <a:xfrm>
            <a:off x="223250" y="230825"/>
            <a:ext cx="69261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NYOS “Not Ordinary”?</a:t>
            </a:r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5252850" y="4718200"/>
            <a:ext cx="4100700" cy="1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Video courtesy of Katie Gowell</a:t>
            </a:r>
            <a:endParaRPr sz="1200"/>
          </a:p>
        </p:txBody>
      </p:sp>
      <p:pic>
        <p:nvPicPr>
          <p:cNvPr id="79" name="Google Shape;79;p11" title="What Makes_intro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75" y="147400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/>
        </p:nvSpPr>
        <p:spPr>
          <a:xfrm>
            <a:off x="558775" y="394000"/>
            <a:ext cx="7622100" cy="3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FROM NYOS ELEMENTARY STAFF</a:t>
            </a:r>
            <a:endParaRPr sz="24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We focus on the “ Whole Child”</a:t>
            </a:r>
            <a:endParaRPr sz="180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Bodoni"/>
                <a:ea typeface="Bodoni"/>
                <a:cs typeface="Bodoni"/>
                <a:sym typeface="Bodoni"/>
              </a:rPr>
              <a:t>Teacher has opportunities for creativity and autonomy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Inclusive community – partnership/collaboration w/student and their families</a:t>
            </a:r>
            <a:endParaRPr sz="180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Bodoni"/>
                <a:ea typeface="Bodoni"/>
                <a:cs typeface="Bodoni"/>
                <a:sym typeface="Bodoni"/>
              </a:rPr>
              <a:t>Student mentorship (Book buddies/ Club Jag)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Looping with teachers - K-1, 2-3, 4-5</a:t>
            </a:r>
            <a:endParaRPr sz="180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809500" y="422650"/>
            <a:ext cx="7084800" cy="4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FROM NYOS ELEMENTARY STAFF</a:t>
            </a:r>
            <a:endParaRPr sz="24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Bodoni"/>
                <a:ea typeface="Bodoni"/>
                <a:cs typeface="Bodoni"/>
                <a:sym typeface="Bodoni"/>
              </a:rPr>
              <a:t>Parent conferences to discuss progress, not just sending home a report card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Community involvement </a:t>
            </a:r>
            <a:endParaRPr sz="180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Bodoni"/>
                <a:ea typeface="Bodoni"/>
                <a:cs typeface="Bodoni"/>
                <a:sym typeface="Bodoni"/>
              </a:rPr>
              <a:t>PLC times on Fridays, never asked to stay after school for staff meetings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Self care fridays once a month (released with kids, no meetings)</a:t>
            </a:r>
            <a:endParaRPr sz="180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Bodoni"/>
                <a:ea typeface="Bodoni"/>
                <a:cs typeface="Bodoni"/>
                <a:sym typeface="Bodoni"/>
              </a:rPr>
              <a:t>Quarterly breaks to refresh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809500" y="422650"/>
            <a:ext cx="7084800" cy="4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FROM NYOS ELEMENTARY STAFF</a:t>
            </a:r>
            <a:endParaRPr sz="24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Student led conferences</a:t>
            </a:r>
            <a:endParaRPr sz="180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Bodoni"/>
                <a:ea typeface="Bodoni"/>
                <a:cs typeface="Bodoni"/>
                <a:sym typeface="Bodoni"/>
              </a:rPr>
              <a:t>Over 30 languages represented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Student leadership opportunities in all grade levels </a:t>
            </a:r>
            <a:endParaRPr sz="180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  <a:latin typeface="Bodoni"/>
                <a:ea typeface="Bodoni"/>
                <a:cs typeface="Bodoni"/>
                <a:sym typeface="Bodoni"/>
              </a:rPr>
              <a:t>Using the Love and Logic framework to support students in learning how to solve problems and make decisions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Small classroom sizes, allows teacher to get to really know the students on a more personal level</a:t>
            </a:r>
            <a:endParaRPr sz="180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831000" y="494275"/>
            <a:ext cx="7084800" cy="4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FROM NYOS ELEMENTARY STAFF</a:t>
            </a:r>
            <a:endParaRPr sz="2400" b="1" dirty="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highlight>
                  <a:srgbClr val="FFFF00"/>
                </a:highlight>
                <a:latin typeface="Bodoni"/>
                <a:ea typeface="Bodoni"/>
                <a:cs typeface="Bodoni"/>
                <a:sym typeface="Bodoni"/>
              </a:rPr>
              <a:t>Offering Parenting with Love and Logic classes to families from our community</a:t>
            </a:r>
            <a:endParaRPr sz="1800" dirty="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Understanding the need for culture resets and having those as an expectation (allowing us to use time to do them) after each break</a:t>
            </a:r>
            <a:endParaRPr sz="1800" dirty="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highlight>
                  <a:srgbClr val="FFFF00"/>
                </a:highlight>
                <a:latin typeface="Bodoni"/>
                <a:ea typeface="Bodoni"/>
                <a:cs typeface="Bodoni"/>
                <a:sym typeface="Bodoni"/>
              </a:rPr>
              <a:t>Built in weekly SEL time</a:t>
            </a:r>
            <a:endParaRPr sz="1800" dirty="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Two recesses daily &amp; brain breaks or movement breaks through the day</a:t>
            </a:r>
            <a:endParaRPr sz="1800" dirty="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Bodoni"/>
              <a:ea typeface="Bodoni"/>
              <a:cs typeface="Bodoni"/>
              <a:sym typeface="Bodon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highlight>
                  <a:srgbClr val="FFFF00"/>
                </a:highlight>
                <a:latin typeface="Bodoni"/>
                <a:ea typeface="Bodoni"/>
                <a:cs typeface="Bodoni"/>
                <a:sym typeface="Bodoni"/>
              </a:rPr>
              <a:t>Inclusive classrooms for students with disabilities </a:t>
            </a:r>
            <a:endParaRPr sz="1800" dirty="0">
              <a:solidFill>
                <a:schemeClr val="dk1"/>
              </a:solidFill>
              <a:highlight>
                <a:srgbClr val="FFFF00"/>
              </a:highlight>
              <a:latin typeface="Bodoni"/>
              <a:ea typeface="Bodoni"/>
              <a:cs typeface="Bodoni"/>
              <a:sym typeface="Bodon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223250" y="230825"/>
            <a:ext cx="69261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NYOS “Not Ordinary”?</a:t>
            </a:r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457200" y="1183000"/>
            <a:ext cx="7324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16" title="SB export 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61925"/>
            <a:ext cx="7696315" cy="43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199525" y="676375"/>
            <a:ext cx="3955500" cy="4094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Changes happen.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are happening.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How do we remain</a:t>
            </a:r>
            <a:endParaRPr sz="3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“Not Ordinary”?</a:t>
            </a:r>
            <a:endParaRPr sz="3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223250" y="230825"/>
            <a:ext cx="69261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NYOS “Not Ordinary”?</a:t>
            </a:r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457200" y="1183000"/>
            <a:ext cx="7324200" cy="3801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Changes happen.  They are happening.  How do we remain “Not Ordinary”?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										</a:t>
            </a:r>
            <a:r>
              <a:rPr lang="en" sz="1200">
                <a:solidFill>
                  <a:schemeClr val="dk1"/>
                </a:solidFill>
              </a:rPr>
              <a:t>Video courtesy of Katie Gowell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p18" title="What Makes_conc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7400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NYOS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Microsoft Macintosh PowerPoint</Application>
  <PresentationFormat>On-screen Show (16:9)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Comfortaa</vt:lpstr>
      <vt:lpstr>Arial</vt:lpstr>
      <vt:lpstr>Lato</vt:lpstr>
      <vt:lpstr>Tahoma</vt:lpstr>
      <vt:lpstr>Bodoni</vt:lpstr>
      <vt:lpstr>Calibri</vt:lpstr>
      <vt:lpstr>NYOS Theme</vt:lpstr>
      <vt:lpstr>What Makes NYOS “Not Ordinary”?</vt:lpstr>
      <vt:lpstr>What Makes NYOS “Not Ordinary”?</vt:lpstr>
      <vt:lpstr>PowerPoint Presentation</vt:lpstr>
      <vt:lpstr>PowerPoint Presentation</vt:lpstr>
      <vt:lpstr>PowerPoint Presentation</vt:lpstr>
      <vt:lpstr>PowerPoint Presentation</vt:lpstr>
      <vt:lpstr>What Makes NYOS “Not Ordinary”?</vt:lpstr>
      <vt:lpstr>Changes happen.  They are happening.     How do we remain “Not Ordinary”?</vt:lpstr>
      <vt:lpstr>What Makes NYOS “Not Ordinary”?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Mark Garcia</cp:lastModifiedBy>
  <cp:revision>1</cp:revision>
  <dcterms:modified xsi:type="dcterms:W3CDTF">2026-04-18T20:31:56Z</dcterms:modified>
</cp:coreProperties>
</file>